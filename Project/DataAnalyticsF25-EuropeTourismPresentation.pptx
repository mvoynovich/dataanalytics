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T Sans Narrow"/>
      <p:regular r:id="rId17"/>
      <p:bold r:id="rId18"/>
    </p:embeddedFon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6.xml"/><Relationship Id="rId22" Type="http://schemas.openxmlformats.org/officeDocument/2006/relationships/font" Target="fonts/OpenSans-boldItalic.fntdata"/><Relationship Id="rId10" Type="http://schemas.openxmlformats.org/officeDocument/2006/relationships/slide" Target="slides/slide5.xml"/><Relationship Id="rId21"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TSansNarrow-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penSans-regular.fntdata"/><Relationship Id="rId6" Type="http://schemas.openxmlformats.org/officeDocument/2006/relationships/slide" Target="slides/slide1.xml"/><Relationship Id="rId18" Type="http://schemas.openxmlformats.org/officeDocument/2006/relationships/font" Target="fonts/PTSansNarrow-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1b4d2342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1b4d2342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1b4d2342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1b4d23429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1b4d23429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1b4d23429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1b4d2342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1b4d2342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1b4d2342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1b4d2342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1b4d23429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1b4d2342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1b4d23429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1b4d23429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1b4d23429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1b4d23429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1b4d2342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1b4d23429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1b4d23429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91b4d23429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Tourism on Europe’s Economy</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Matthew Voynovich</a:t>
            </a:r>
            <a:endParaRPr/>
          </a:p>
          <a:p>
            <a:pPr indent="0" lvl="0" marL="0" rtl="0" algn="ctr">
              <a:spcBef>
                <a:spcPts val="0"/>
              </a:spcBef>
              <a:spcAft>
                <a:spcPts val="0"/>
              </a:spcAft>
              <a:buNone/>
            </a:pPr>
            <a:r>
              <a:rPr lang="en"/>
              <a:t>Data Analytics F25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it of interest?</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lot of European Countries’ economies are heavily influenced by tourism and other social factors (Italy, Croatia, Greece) (mostly southern Europe)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Covid specifically shook up tourism and affected a lot of countries long term. The goal is to see how much tourism effects these countries and whether it is a negative or positive thing.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nvSpPr>
        <p:spPr>
          <a:xfrm>
            <a:off x="311700" y="445025"/>
            <a:ext cx="8520600" cy="7074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3600">
                <a:solidFill>
                  <a:srgbClr val="EF6C00"/>
                </a:solidFill>
                <a:latin typeface="PT Sans Narrow"/>
                <a:ea typeface="PT Sans Narrow"/>
                <a:cs typeface="PT Sans Narrow"/>
                <a:sym typeface="PT Sans Narrow"/>
              </a:rPr>
              <a:t>Hypothesis</a:t>
            </a:r>
            <a:endParaRPr b="1" sz="3600">
              <a:solidFill>
                <a:srgbClr val="EF6C00"/>
              </a:solidFill>
              <a:latin typeface="PT Sans Narrow"/>
              <a:ea typeface="PT Sans Narrow"/>
              <a:cs typeface="PT Sans Narrow"/>
              <a:sym typeface="PT Sans Narrow"/>
            </a:endParaRPr>
          </a:p>
        </p:txBody>
      </p:sp>
      <p:sp>
        <p:nvSpPr>
          <p:cNvPr id="79" name="Google Shape;79;p15"/>
          <p:cNvSpPr txBox="1"/>
          <p:nvPr/>
        </p:nvSpPr>
        <p:spPr>
          <a:xfrm>
            <a:off x="311700" y="1266325"/>
            <a:ext cx="8621700" cy="33027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695D46"/>
              </a:buClr>
              <a:buSzPts val="1500"/>
              <a:buFont typeface="Open Sans"/>
              <a:buChar char="●"/>
            </a:pPr>
            <a:r>
              <a:rPr lang="en" sz="1500">
                <a:solidFill>
                  <a:srgbClr val="695D46"/>
                </a:solidFill>
                <a:latin typeface="Open Sans"/>
                <a:ea typeface="Open Sans"/>
                <a:cs typeface="Open Sans"/>
                <a:sym typeface="Open Sans"/>
              </a:rPr>
              <a:t>An increase in tourist arrivals and related tourism expenditures are associated with an increase in the country’s GDP</a:t>
            </a:r>
            <a:endParaRPr sz="15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5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500">
              <a:solidFill>
                <a:srgbClr val="695D46"/>
              </a:solidFill>
              <a:latin typeface="Open Sans"/>
              <a:ea typeface="Open Sans"/>
              <a:cs typeface="Open Sans"/>
              <a:sym typeface="Open Sans"/>
            </a:endParaRPr>
          </a:p>
          <a:p>
            <a:pPr indent="-323850" lvl="0" marL="457200" rtl="0" algn="l">
              <a:lnSpc>
                <a:spcPct val="115000"/>
              </a:lnSpc>
              <a:spcBef>
                <a:spcPts val="1200"/>
              </a:spcBef>
              <a:spcAft>
                <a:spcPts val="0"/>
              </a:spcAft>
              <a:buClr>
                <a:srgbClr val="695D46"/>
              </a:buClr>
              <a:buSzPts val="1500"/>
              <a:buFont typeface="Open Sans"/>
              <a:buChar char="●"/>
            </a:pPr>
            <a:r>
              <a:rPr lang="en" sz="1500">
                <a:solidFill>
                  <a:srgbClr val="695D46"/>
                </a:solidFill>
                <a:latin typeface="Open Sans"/>
                <a:ea typeface="Open Sans"/>
                <a:cs typeface="Open Sans"/>
                <a:sym typeface="Open Sans"/>
              </a:rPr>
              <a:t>Predict the GDP growth rate (or just GDP) based on tourism  statistics/indicators (number of tourists, tourism revenue) and certain control variables (population, exports, etc)</a:t>
            </a:r>
            <a:endParaRPr sz="1500">
              <a:solidFill>
                <a:srgbClr val="695D46"/>
              </a:solidFill>
              <a:latin typeface="Open Sans"/>
              <a:ea typeface="Open Sans"/>
              <a:cs typeface="Open Sans"/>
              <a:sym typeface="Open Sans"/>
            </a:endParaRPr>
          </a:p>
          <a:p>
            <a:pPr indent="-323850" lvl="1" marL="914400" rtl="0" algn="l">
              <a:lnSpc>
                <a:spcPct val="115000"/>
              </a:lnSpc>
              <a:spcBef>
                <a:spcPts val="1000"/>
              </a:spcBef>
              <a:spcAft>
                <a:spcPts val="0"/>
              </a:spcAft>
              <a:buClr>
                <a:srgbClr val="695D46"/>
              </a:buClr>
              <a:buSzPts val="1500"/>
              <a:buFont typeface="Open Sans"/>
              <a:buChar char="○"/>
            </a:pPr>
            <a:r>
              <a:rPr lang="en" sz="1500">
                <a:solidFill>
                  <a:srgbClr val="695D46"/>
                </a:solidFill>
                <a:latin typeface="Open Sans"/>
                <a:ea typeface="Open Sans"/>
                <a:cs typeface="Open Sans"/>
                <a:sym typeface="Open Sans"/>
              </a:rPr>
              <a:t>Try to correlate a % increase in tourism with % increase in GDP</a:t>
            </a:r>
            <a:endParaRPr sz="1500">
              <a:solidFill>
                <a:srgbClr val="695D46"/>
              </a:solidFill>
              <a:latin typeface="Open Sans"/>
              <a:ea typeface="Open Sans"/>
              <a:cs typeface="Open Sans"/>
              <a:sym typeface="Open Sans"/>
            </a:endParaRPr>
          </a:p>
          <a:p>
            <a:pPr indent="-323850" lvl="0" marL="457200" rtl="0" algn="l">
              <a:lnSpc>
                <a:spcPct val="115000"/>
              </a:lnSpc>
              <a:spcBef>
                <a:spcPts val="1000"/>
              </a:spcBef>
              <a:spcAft>
                <a:spcPts val="0"/>
              </a:spcAft>
              <a:buClr>
                <a:srgbClr val="695D46"/>
              </a:buClr>
              <a:buSzPts val="1500"/>
              <a:buFont typeface="Open Sans"/>
              <a:buChar char="●"/>
            </a:pPr>
            <a:r>
              <a:rPr lang="en" sz="1500">
                <a:solidFill>
                  <a:srgbClr val="695D46"/>
                </a:solidFill>
                <a:latin typeface="Open Sans"/>
                <a:ea typeface="Open Sans"/>
                <a:cs typeface="Open Sans"/>
                <a:sym typeface="Open Sans"/>
              </a:rPr>
              <a:t>Identification of which countries are most sensitive to tourism (via feature importance or coefficients).</a:t>
            </a:r>
            <a:endParaRPr sz="15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None/>
            </a:pPr>
            <a:r>
              <a:t/>
            </a:r>
            <a:endParaRPr sz="1500">
              <a:solidFill>
                <a:srgbClr val="695D46"/>
              </a:solidFill>
              <a:latin typeface="Open Sans"/>
              <a:ea typeface="Open Sans"/>
              <a:cs typeface="Open Sans"/>
              <a:sym typeface="Open Sans"/>
            </a:endParaRPr>
          </a:p>
          <a:p>
            <a:pPr indent="0" lvl="0" marL="0" rtl="0" algn="l">
              <a:lnSpc>
                <a:spcPct val="115000"/>
              </a:lnSpc>
              <a:spcBef>
                <a:spcPts val="1200"/>
              </a:spcBef>
              <a:spcAft>
                <a:spcPts val="1200"/>
              </a:spcAft>
              <a:buNone/>
            </a:pPr>
            <a:r>
              <a:t/>
            </a:r>
            <a:endParaRPr sz="1500">
              <a:solidFill>
                <a:srgbClr val="695D46"/>
              </a:solidFill>
              <a:latin typeface="Open Sans"/>
              <a:ea typeface="Open Sans"/>
              <a:cs typeface="Open Sans"/>
              <a:sym typeface="Open Sans"/>
            </a:endParaRPr>
          </a:p>
        </p:txBody>
      </p:sp>
      <p:sp>
        <p:nvSpPr>
          <p:cNvPr id="80" name="Google Shape;80;p15"/>
          <p:cNvSpPr txBox="1"/>
          <p:nvPr/>
        </p:nvSpPr>
        <p:spPr>
          <a:xfrm>
            <a:off x="311700" y="2218050"/>
            <a:ext cx="8520600" cy="7074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3600">
                <a:solidFill>
                  <a:srgbClr val="EF6C00"/>
                </a:solidFill>
                <a:latin typeface="PT Sans Narrow"/>
                <a:ea typeface="PT Sans Narrow"/>
                <a:cs typeface="PT Sans Narrow"/>
                <a:sym typeface="PT Sans Narrow"/>
              </a:rPr>
              <a:t>Predictions</a:t>
            </a:r>
            <a:endParaRPr b="1" sz="3600">
              <a:solidFill>
                <a:srgbClr val="EF6C00"/>
              </a:solidFill>
              <a:latin typeface="PT Sans Narrow"/>
              <a:ea typeface="PT Sans Narrow"/>
              <a:cs typeface="PT Sans Narrow"/>
              <a:sym typeface="PT Sans Narr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nvSpPr>
        <p:spPr>
          <a:xfrm>
            <a:off x="311700" y="445025"/>
            <a:ext cx="8520600" cy="7074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3600">
                <a:solidFill>
                  <a:srgbClr val="EF6C00"/>
                </a:solidFill>
                <a:latin typeface="PT Sans Narrow"/>
                <a:ea typeface="PT Sans Narrow"/>
                <a:cs typeface="PT Sans Narrow"/>
                <a:sym typeface="PT Sans Narrow"/>
              </a:rPr>
              <a:t>Source of Data</a:t>
            </a:r>
            <a:endParaRPr b="1" sz="3600">
              <a:solidFill>
                <a:srgbClr val="EF6C00"/>
              </a:solidFill>
              <a:latin typeface="PT Sans Narrow"/>
              <a:ea typeface="PT Sans Narrow"/>
              <a:cs typeface="PT Sans Narrow"/>
              <a:sym typeface="PT Sans Narrow"/>
            </a:endParaRPr>
          </a:p>
        </p:txBody>
      </p:sp>
      <p:sp>
        <p:nvSpPr>
          <p:cNvPr id="86" name="Google Shape;86;p16"/>
          <p:cNvSpPr txBox="1"/>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500">
                <a:solidFill>
                  <a:srgbClr val="695D46"/>
                </a:solidFill>
                <a:latin typeface="Open Sans"/>
                <a:ea typeface="Open Sans"/>
                <a:cs typeface="Open Sans"/>
                <a:sym typeface="Open Sans"/>
              </a:rPr>
              <a:t>Source: </a:t>
            </a:r>
            <a:r>
              <a:rPr lang="en" sz="1500">
                <a:solidFill>
                  <a:srgbClr val="695D46"/>
                </a:solidFill>
                <a:latin typeface="Open Sans"/>
                <a:ea typeface="Open Sans"/>
                <a:cs typeface="Open Sans"/>
                <a:sym typeface="Open Sans"/>
              </a:rPr>
              <a:t>World Bank						- </a:t>
            </a:r>
            <a:r>
              <a:rPr lang="en" sz="1000">
                <a:solidFill>
                  <a:srgbClr val="695D46"/>
                </a:solidFill>
                <a:latin typeface="Open Sans"/>
                <a:ea typeface="Open Sans"/>
                <a:cs typeface="Open Sans"/>
                <a:sym typeface="Open Sans"/>
              </a:rPr>
              <a:t>GDP (current US$), GDP growth (%), international tourism receipts, </a:t>
            </a:r>
            <a:br>
              <a:rPr lang="en" sz="1000">
                <a:solidFill>
                  <a:srgbClr val="695D46"/>
                </a:solidFill>
                <a:latin typeface="Open Sans"/>
                <a:ea typeface="Open Sans"/>
                <a:cs typeface="Open Sans"/>
                <a:sym typeface="Open Sans"/>
              </a:rPr>
            </a:br>
            <a:r>
              <a:rPr lang="en" sz="1000">
                <a:solidFill>
                  <a:srgbClr val="695D46"/>
                </a:solidFill>
                <a:latin typeface="Open Sans"/>
                <a:ea typeface="Open Sans"/>
                <a:cs typeface="Open Sans"/>
                <a:sym typeface="Open Sans"/>
              </a:rPr>
              <a:t>								    international arrivals, population, etc</a:t>
            </a:r>
            <a:endParaRPr sz="10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None/>
            </a:pPr>
            <a:r>
              <a:rPr lang="en" sz="1500">
                <a:solidFill>
                  <a:srgbClr val="695D46"/>
                </a:solidFill>
                <a:latin typeface="Open Sans"/>
                <a:ea typeface="Open Sans"/>
                <a:cs typeface="Open Sans"/>
                <a:sym typeface="Open Sans"/>
              </a:rPr>
              <a:t>The data covers around 30-40 european countries over 20-30 years</a:t>
            </a:r>
            <a:endParaRPr sz="1500">
              <a:solidFill>
                <a:srgbClr val="695D46"/>
              </a:solidFill>
              <a:latin typeface="Open Sans"/>
              <a:ea typeface="Open Sans"/>
              <a:cs typeface="Open Sans"/>
              <a:sym typeface="Open Sans"/>
            </a:endParaRPr>
          </a:p>
          <a:p>
            <a:pPr indent="0" lvl="0" marL="0" rtl="0" algn="l">
              <a:lnSpc>
                <a:spcPct val="115000"/>
              </a:lnSpc>
              <a:spcBef>
                <a:spcPts val="1200"/>
              </a:spcBef>
              <a:spcAft>
                <a:spcPts val="0"/>
              </a:spcAft>
              <a:buNone/>
            </a:pPr>
            <a:r>
              <a:rPr lang="en" sz="1500">
                <a:solidFill>
                  <a:srgbClr val="695D46"/>
                </a:solidFill>
                <a:latin typeface="Open Sans"/>
                <a:ea typeface="Open Sans"/>
                <a:cs typeface="Open Sans"/>
                <a:sym typeface="Open Sans"/>
              </a:rPr>
              <a:t>Data is typically served as annual factors</a:t>
            </a:r>
            <a:endParaRPr sz="1500">
              <a:solidFill>
                <a:srgbClr val="695D46"/>
              </a:solidFill>
              <a:latin typeface="Open Sans"/>
              <a:ea typeface="Open Sans"/>
              <a:cs typeface="Open Sans"/>
              <a:sym typeface="Open Sans"/>
            </a:endParaRPr>
          </a:p>
          <a:p>
            <a:pPr indent="0" lvl="0" marL="0" rtl="0" algn="l">
              <a:lnSpc>
                <a:spcPct val="115000"/>
              </a:lnSpc>
              <a:spcBef>
                <a:spcPts val="1200"/>
              </a:spcBef>
              <a:spcAft>
                <a:spcPts val="1200"/>
              </a:spcAft>
              <a:buNone/>
            </a:pPr>
            <a:r>
              <a:rPr lang="en" sz="1500">
                <a:solidFill>
                  <a:srgbClr val="695D46"/>
                </a:solidFill>
                <a:latin typeface="Open Sans"/>
                <a:ea typeface="Open Sans"/>
                <a:cs typeface="Open Sans"/>
                <a:sym typeface="Open Sans"/>
              </a:rPr>
              <a:t>Data quality is typically good but smaller nations may have some missing data or statistics</a:t>
            </a:r>
            <a:endParaRPr sz="1500">
              <a:solidFill>
                <a:srgbClr val="695D46"/>
              </a:solidFill>
              <a:latin typeface="Open Sans"/>
              <a:ea typeface="Open Sans"/>
              <a:cs typeface="Open Sans"/>
              <a:sym typeface="Open Sans"/>
            </a:endParaRPr>
          </a:p>
        </p:txBody>
      </p:sp>
      <p:pic>
        <p:nvPicPr>
          <p:cNvPr id="87" name="Google Shape;87;p16"/>
          <p:cNvPicPr preferRelativeResize="0"/>
          <p:nvPr/>
        </p:nvPicPr>
        <p:blipFill>
          <a:blip r:embed="rId3">
            <a:alphaModFix/>
          </a:blip>
          <a:stretch>
            <a:fillRect/>
          </a:stretch>
        </p:blipFill>
        <p:spPr>
          <a:xfrm>
            <a:off x="0" y="3549287"/>
            <a:ext cx="9144002" cy="14953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914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Distributions/EDA</a:t>
            </a:r>
            <a:endParaRPr/>
          </a:p>
        </p:txBody>
      </p:sp>
      <p:pic>
        <p:nvPicPr>
          <p:cNvPr id="93" name="Google Shape;93;p17"/>
          <p:cNvPicPr preferRelativeResize="0"/>
          <p:nvPr/>
        </p:nvPicPr>
        <p:blipFill>
          <a:blip r:embed="rId3">
            <a:alphaModFix/>
          </a:blip>
          <a:stretch>
            <a:fillRect/>
          </a:stretch>
        </p:blipFill>
        <p:spPr>
          <a:xfrm>
            <a:off x="457525" y="648295"/>
            <a:ext cx="8228951" cy="43997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pic>
        <p:nvPicPr>
          <p:cNvPr id="99" name="Google Shape;99;p18"/>
          <p:cNvPicPr preferRelativeResize="0"/>
          <p:nvPr/>
        </p:nvPicPr>
        <p:blipFill>
          <a:blip r:embed="rId3">
            <a:alphaModFix/>
          </a:blip>
          <a:stretch>
            <a:fillRect/>
          </a:stretch>
        </p:blipFill>
        <p:spPr>
          <a:xfrm>
            <a:off x="4572003" y="234675"/>
            <a:ext cx="4571996" cy="1925225"/>
          </a:xfrm>
          <a:prstGeom prst="rect">
            <a:avLst/>
          </a:prstGeom>
          <a:noFill/>
          <a:ln>
            <a:noFill/>
          </a:ln>
        </p:spPr>
      </p:pic>
      <p:pic>
        <p:nvPicPr>
          <p:cNvPr id="100" name="Google Shape;100;p18"/>
          <p:cNvPicPr preferRelativeResize="0"/>
          <p:nvPr/>
        </p:nvPicPr>
        <p:blipFill>
          <a:blip r:embed="rId4">
            <a:alphaModFix/>
          </a:blip>
          <a:stretch>
            <a:fillRect/>
          </a:stretch>
        </p:blipFill>
        <p:spPr>
          <a:xfrm>
            <a:off x="2730100" y="2352779"/>
            <a:ext cx="6413900" cy="2700825"/>
          </a:xfrm>
          <a:prstGeom prst="rect">
            <a:avLst/>
          </a:prstGeom>
          <a:noFill/>
          <a:ln>
            <a:noFill/>
          </a:ln>
        </p:spPr>
      </p:pic>
      <p:pic>
        <p:nvPicPr>
          <p:cNvPr id="101" name="Google Shape;101;p18"/>
          <p:cNvPicPr preferRelativeResize="0"/>
          <p:nvPr/>
        </p:nvPicPr>
        <p:blipFill>
          <a:blip r:embed="rId5">
            <a:alphaModFix/>
          </a:blip>
          <a:stretch>
            <a:fillRect/>
          </a:stretch>
        </p:blipFill>
        <p:spPr>
          <a:xfrm>
            <a:off x="0" y="114295"/>
            <a:ext cx="4571999" cy="1925231"/>
          </a:xfrm>
          <a:prstGeom prst="rect">
            <a:avLst/>
          </a:prstGeom>
          <a:noFill/>
          <a:ln>
            <a:noFill/>
          </a:ln>
        </p:spPr>
      </p:pic>
      <p:sp>
        <p:nvSpPr>
          <p:cNvPr id="102" name="Google Shape;102;p18"/>
          <p:cNvSpPr txBox="1"/>
          <p:nvPr>
            <p:ph type="title"/>
          </p:nvPr>
        </p:nvSpPr>
        <p:spPr>
          <a:xfrm>
            <a:off x="0" y="43462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EDA Cont.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pt. 1</a:t>
            </a:r>
            <a:endParaRPr/>
          </a:p>
        </p:txBody>
      </p:sp>
      <p:sp>
        <p:nvSpPr>
          <p:cNvPr id="108" name="Google Shape;108;p1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our first question we wanted to see how well we could predict country gdp growth with tourism indicators plus the control variables we saw from the snapshot of the data.</a:t>
            </a:r>
            <a:endParaRPr/>
          </a:p>
          <a:p>
            <a:pPr indent="0" lvl="0" marL="0" rtl="0" algn="l">
              <a:spcBef>
                <a:spcPts val="1200"/>
              </a:spcBef>
              <a:spcAft>
                <a:spcPts val="0"/>
              </a:spcAft>
              <a:buNone/>
            </a:pPr>
            <a:r>
              <a:rPr lang="en"/>
              <a:t>For this we did two models:</a:t>
            </a:r>
            <a:endParaRPr/>
          </a:p>
          <a:p>
            <a:pPr indent="-342900" lvl="0" marL="457200" rtl="0" algn="l">
              <a:spcBef>
                <a:spcPts val="1200"/>
              </a:spcBef>
              <a:spcAft>
                <a:spcPts val="0"/>
              </a:spcAft>
              <a:buSzPts val="1800"/>
              <a:buChar char="●"/>
            </a:pPr>
            <a:r>
              <a:rPr lang="en"/>
              <a:t>Random forest</a:t>
            </a:r>
            <a:endParaRPr/>
          </a:p>
          <a:p>
            <a:pPr indent="-342900" lvl="0" marL="457200" rtl="0" algn="l">
              <a:spcBef>
                <a:spcPts val="0"/>
              </a:spcBef>
              <a:spcAft>
                <a:spcPts val="0"/>
              </a:spcAft>
              <a:buSzPts val="1800"/>
              <a:buChar char="●"/>
            </a:pPr>
            <a:r>
              <a:rPr lang="en"/>
              <a:t>LightGBM (Gradient Boosting Model)</a:t>
            </a:r>
            <a:endParaRPr/>
          </a:p>
          <a:p>
            <a:pPr indent="0" lvl="0" marL="0" rtl="0" algn="l">
              <a:spcBef>
                <a:spcPts val="1200"/>
              </a:spcBef>
              <a:spcAft>
                <a:spcPts val="1200"/>
              </a:spcAft>
              <a:buNone/>
            </a:pPr>
            <a:r>
              <a:rPr lang="en"/>
              <a:t>And then we evaluated with a train-test split of 80-20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pt. 1</a:t>
            </a:r>
            <a:endParaRPr/>
          </a:p>
        </p:txBody>
      </p:sp>
      <p:pic>
        <p:nvPicPr>
          <p:cNvPr id="114" name="Google Shape;114;p20"/>
          <p:cNvPicPr preferRelativeResize="0"/>
          <p:nvPr/>
        </p:nvPicPr>
        <p:blipFill>
          <a:blip r:embed="rId3">
            <a:alphaModFix/>
          </a:blip>
          <a:stretch>
            <a:fillRect/>
          </a:stretch>
        </p:blipFill>
        <p:spPr>
          <a:xfrm>
            <a:off x="409129" y="1442229"/>
            <a:ext cx="2855350" cy="917325"/>
          </a:xfrm>
          <a:prstGeom prst="rect">
            <a:avLst/>
          </a:prstGeom>
          <a:noFill/>
          <a:ln>
            <a:noFill/>
          </a:ln>
        </p:spPr>
      </p:pic>
      <p:pic>
        <p:nvPicPr>
          <p:cNvPr id="115" name="Google Shape;115;p20"/>
          <p:cNvPicPr preferRelativeResize="0"/>
          <p:nvPr/>
        </p:nvPicPr>
        <p:blipFill>
          <a:blip r:embed="rId4">
            <a:alphaModFix/>
          </a:blip>
          <a:stretch>
            <a:fillRect/>
          </a:stretch>
        </p:blipFill>
        <p:spPr>
          <a:xfrm>
            <a:off x="2717850" y="2823250"/>
            <a:ext cx="2436575" cy="2220000"/>
          </a:xfrm>
          <a:prstGeom prst="rect">
            <a:avLst/>
          </a:prstGeom>
          <a:noFill/>
          <a:ln>
            <a:noFill/>
          </a:ln>
        </p:spPr>
      </p:pic>
      <p:pic>
        <p:nvPicPr>
          <p:cNvPr id="116" name="Google Shape;116;p20"/>
          <p:cNvPicPr preferRelativeResize="0"/>
          <p:nvPr/>
        </p:nvPicPr>
        <p:blipFill>
          <a:blip r:embed="rId5">
            <a:alphaModFix/>
          </a:blip>
          <a:stretch>
            <a:fillRect/>
          </a:stretch>
        </p:blipFill>
        <p:spPr>
          <a:xfrm>
            <a:off x="311700" y="2776809"/>
            <a:ext cx="2436575" cy="2209667"/>
          </a:xfrm>
          <a:prstGeom prst="rect">
            <a:avLst/>
          </a:prstGeom>
          <a:noFill/>
          <a:ln>
            <a:noFill/>
          </a:ln>
        </p:spPr>
      </p:pic>
      <p:pic>
        <p:nvPicPr>
          <p:cNvPr id="117" name="Google Shape;117;p20"/>
          <p:cNvPicPr preferRelativeResize="0"/>
          <p:nvPr/>
        </p:nvPicPr>
        <p:blipFill>
          <a:blip r:embed="rId6">
            <a:alphaModFix/>
          </a:blip>
          <a:stretch>
            <a:fillRect/>
          </a:stretch>
        </p:blipFill>
        <p:spPr>
          <a:xfrm>
            <a:off x="5234375" y="2415379"/>
            <a:ext cx="3684774" cy="2627876"/>
          </a:xfrm>
          <a:prstGeom prst="rect">
            <a:avLst/>
          </a:prstGeom>
          <a:noFill/>
          <a:ln>
            <a:noFill/>
          </a:ln>
        </p:spPr>
      </p:pic>
      <p:sp>
        <p:nvSpPr>
          <p:cNvPr id="118" name="Google Shape;118;p20"/>
          <p:cNvSpPr txBox="1"/>
          <p:nvPr/>
        </p:nvSpPr>
        <p:spPr>
          <a:xfrm>
            <a:off x="3875725" y="864150"/>
            <a:ext cx="5045100" cy="9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For GDP growth, an R^2 of .43 is pretty decent because of volatility and they are noisy. If it was just GDP then it would have been bad</a:t>
            </a:r>
            <a:endParaRPr sz="1800">
              <a:solidFill>
                <a:schemeClr val="dk2"/>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pt. 2</a:t>
            </a:r>
            <a:endParaRPr/>
          </a:p>
        </p:txBody>
      </p:sp>
      <p:sp>
        <p:nvSpPr>
          <p:cNvPr id="124" name="Google Shape;124;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We wanted an </a:t>
            </a:r>
            <a:r>
              <a:rPr lang="en"/>
              <a:t>indication</a:t>
            </a:r>
            <a:r>
              <a:rPr lang="en"/>
              <a:t> of which countries are most sensitive to tourism. Thus, we train models on a per country basis and get their feature importances.</a:t>
            </a:r>
            <a:endParaRPr/>
          </a:p>
          <a:p>
            <a:pPr indent="0" lvl="0" marL="0" rtl="0" algn="l">
              <a:spcBef>
                <a:spcPts val="1200"/>
              </a:spcBef>
              <a:spcAft>
                <a:spcPts val="0"/>
              </a:spcAft>
              <a:buNone/>
            </a:pPr>
            <a:r>
              <a:rPr lang="en"/>
              <a:t>For this task, we use two models:</a:t>
            </a:r>
            <a:endParaRPr/>
          </a:p>
          <a:p>
            <a:pPr indent="-342900" lvl="0" marL="457200" rtl="0" algn="l">
              <a:spcBef>
                <a:spcPts val="1200"/>
              </a:spcBef>
              <a:spcAft>
                <a:spcPts val="0"/>
              </a:spcAft>
              <a:buSzPts val="1800"/>
              <a:buChar char="●"/>
            </a:pPr>
            <a:r>
              <a:rPr lang="en"/>
              <a:t>Random Forest</a:t>
            </a:r>
            <a:endParaRPr/>
          </a:p>
          <a:p>
            <a:pPr indent="-342900" lvl="0" marL="457200" rtl="0" algn="l">
              <a:spcBef>
                <a:spcPts val="0"/>
              </a:spcBef>
              <a:spcAft>
                <a:spcPts val="0"/>
              </a:spcAft>
              <a:buSzPts val="1800"/>
              <a:buChar char="●"/>
            </a:pPr>
            <a:r>
              <a:rPr lang="en"/>
              <a:t>XGBoost</a:t>
            </a:r>
            <a:endParaRPr/>
          </a:p>
          <a:p>
            <a:pPr indent="0" lvl="0" marL="0" rtl="0" algn="l">
              <a:spcBef>
                <a:spcPts val="1200"/>
              </a:spcBef>
              <a:spcAft>
                <a:spcPts val="1200"/>
              </a:spcAft>
              <a:buNone/>
            </a:pPr>
            <a:r>
              <a:rPr lang="en"/>
              <a:t>We will see the feature importances for both and then also test their R^2 with respect to time series cross validation to see if tourism </a:t>
            </a:r>
            <a:r>
              <a:rPr lang="en"/>
              <a:t>factors</a:t>
            </a:r>
            <a:r>
              <a:rPr lang="en"/>
              <a:t> are predictive. Trains on past and tests on future.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11700" y="569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pt. 2</a:t>
            </a:r>
            <a:endParaRPr/>
          </a:p>
        </p:txBody>
      </p:sp>
      <p:pic>
        <p:nvPicPr>
          <p:cNvPr id="130" name="Google Shape;130;p22"/>
          <p:cNvPicPr preferRelativeResize="0"/>
          <p:nvPr/>
        </p:nvPicPr>
        <p:blipFill>
          <a:blip r:embed="rId3">
            <a:alphaModFix/>
          </a:blip>
          <a:stretch>
            <a:fillRect/>
          </a:stretch>
        </p:blipFill>
        <p:spPr>
          <a:xfrm>
            <a:off x="5748699" y="0"/>
            <a:ext cx="3395300" cy="3432600"/>
          </a:xfrm>
          <a:prstGeom prst="rect">
            <a:avLst/>
          </a:prstGeom>
          <a:noFill/>
          <a:ln>
            <a:noFill/>
          </a:ln>
        </p:spPr>
      </p:pic>
      <p:pic>
        <p:nvPicPr>
          <p:cNvPr id="131" name="Google Shape;131;p22"/>
          <p:cNvPicPr preferRelativeResize="0"/>
          <p:nvPr/>
        </p:nvPicPr>
        <p:blipFill>
          <a:blip r:embed="rId4">
            <a:alphaModFix/>
          </a:blip>
          <a:stretch>
            <a:fillRect/>
          </a:stretch>
        </p:blipFill>
        <p:spPr>
          <a:xfrm>
            <a:off x="152400" y="777025"/>
            <a:ext cx="2760876" cy="1767950"/>
          </a:xfrm>
          <a:prstGeom prst="rect">
            <a:avLst/>
          </a:prstGeom>
          <a:noFill/>
          <a:ln>
            <a:noFill/>
          </a:ln>
        </p:spPr>
      </p:pic>
      <p:sp>
        <p:nvSpPr>
          <p:cNvPr id="132" name="Google Shape;132;p22"/>
          <p:cNvSpPr txBox="1"/>
          <p:nvPr/>
        </p:nvSpPr>
        <p:spPr>
          <a:xfrm>
            <a:off x="217325" y="3456600"/>
            <a:ext cx="8755500" cy="132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pic>
        <p:nvPicPr>
          <p:cNvPr id="133" name="Google Shape;133;p22"/>
          <p:cNvPicPr preferRelativeResize="0"/>
          <p:nvPr/>
        </p:nvPicPr>
        <p:blipFill>
          <a:blip r:embed="rId5">
            <a:alphaModFix/>
          </a:blip>
          <a:stretch>
            <a:fillRect/>
          </a:stretch>
        </p:blipFill>
        <p:spPr>
          <a:xfrm>
            <a:off x="2950549" y="777013"/>
            <a:ext cx="2760876" cy="1687963"/>
          </a:xfrm>
          <a:prstGeom prst="rect">
            <a:avLst/>
          </a:prstGeom>
          <a:noFill/>
          <a:ln>
            <a:noFill/>
          </a:ln>
        </p:spPr>
      </p:pic>
      <p:sp>
        <p:nvSpPr>
          <p:cNvPr id="134" name="Google Shape;134;p22"/>
          <p:cNvSpPr txBox="1"/>
          <p:nvPr/>
        </p:nvSpPr>
        <p:spPr>
          <a:xfrm>
            <a:off x="311700" y="2557650"/>
            <a:ext cx="5314200" cy="1997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Open Sans"/>
              <a:buChar char="●"/>
            </a:pPr>
            <a:r>
              <a:rPr lang="en">
                <a:solidFill>
                  <a:schemeClr val="dk2"/>
                </a:solidFill>
                <a:latin typeface="Open Sans"/>
                <a:ea typeface="Open Sans"/>
                <a:cs typeface="Open Sans"/>
                <a:sym typeface="Open Sans"/>
              </a:rPr>
              <a:t>Random Forest feature importance is likely better as XGBoost is more sensitive to noise and over fitting (very easy for small data sets like on 30 yrs of a country’s data)</a:t>
            </a:r>
            <a:endParaRPr>
              <a:solidFill>
                <a:schemeClr val="dk2"/>
              </a:solidFill>
              <a:latin typeface="Open Sans"/>
              <a:ea typeface="Open Sans"/>
              <a:cs typeface="Open Sans"/>
              <a:sym typeface="Open Sans"/>
            </a:endParaRPr>
          </a:p>
        </p:txBody>
      </p:sp>
      <p:sp>
        <p:nvSpPr>
          <p:cNvPr id="135" name="Google Shape;135;p22"/>
          <p:cNvSpPr txBox="1"/>
          <p:nvPr/>
        </p:nvSpPr>
        <p:spPr>
          <a:xfrm>
            <a:off x="311700" y="3410050"/>
            <a:ext cx="8520600" cy="10659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Open Sans"/>
              <a:buChar char="●"/>
            </a:pPr>
            <a:r>
              <a:rPr lang="en">
                <a:solidFill>
                  <a:schemeClr val="dk2"/>
                </a:solidFill>
                <a:latin typeface="Open Sans"/>
                <a:ea typeface="Open Sans"/>
                <a:cs typeface="Open Sans"/>
                <a:sym typeface="Open Sans"/>
              </a:rPr>
              <a:t>Low Time Series Cross validation R^2 reveals that tourism features have contemporaneous relationships not predictive. </a:t>
            </a:r>
            <a:endParaRPr>
              <a:solidFill>
                <a:schemeClr val="dk2"/>
              </a:solidFill>
              <a:latin typeface="Open Sans"/>
              <a:ea typeface="Open Sans"/>
              <a:cs typeface="Open Sans"/>
              <a:sym typeface="Open Sans"/>
            </a:endParaRPr>
          </a:p>
          <a:p>
            <a:pPr indent="-317500" lvl="0" marL="457200" rtl="0" algn="l">
              <a:spcBef>
                <a:spcPts val="0"/>
              </a:spcBef>
              <a:spcAft>
                <a:spcPts val="0"/>
              </a:spcAft>
              <a:buClr>
                <a:schemeClr val="dk2"/>
              </a:buClr>
              <a:buSzPts val="1400"/>
              <a:buFont typeface="Open Sans"/>
              <a:buChar char="●"/>
            </a:pPr>
            <a:r>
              <a:rPr lang="en">
                <a:solidFill>
                  <a:schemeClr val="dk2"/>
                </a:solidFill>
                <a:latin typeface="Open Sans"/>
                <a:ea typeface="Open Sans"/>
                <a:cs typeface="Open Sans"/>
                <a:sym typeface="Open Sans"/>
              </a:rPr>
              <a:t>Feature importances still tells</a:t>
            </a:r>
            <a:endParaRPr>
              <a:solidFill>
                <a:schemeClr val="dk2"/>
              </a:solidFill>
              <a:latin typeface="Open Sans"/>
              <a:ea typeface="Open Sans"/>
              <a:cs typeface="Open Sans"/>
              <a:sym typeface="Open Sans"/>
            </a:endParaRPr>
          </a:p>
          <a:p>
            <a:pPr indent="-317500" lvl="1" marL="914400" rtl="0" algn="l">
              <a:spcBef>
                <a:spcPts val="0"/>
              </a:spcBef>
              <a:spcAft>
                <a:spcPts val="0"/>
              </a:spcAft>
              <a:buClr>
                <a:schemeClr val="dk2"/>
              </a:buClr>
              <a:buSzPts val="1400"/>
              <a:buFont typeface="Open Sans"/>
              <a:buChar char="○"/>
            </a:pPr>
            <a:r>
              <a:rPr lang="en">
                <a:solidFill>
                  <a:schemeClr val="dk2"/>
                </a:solidFill>
                <a:latin typeface="Open Sans"/>
                <a:ea typeface="Open Sans"/>
                <a:cs typeface="Open Sans"/>
                <a:sym typeface="Open Sans"/>
              </a:rPr>
              <a:t>How strongly tourism growth correlates with GDP growth in your historical data</a:t>
            </a:r>
            <a:endParaRPr>
              <a:solidFill>
                <a:schemeClr val="dk2"/>
              </a:solidFill>
              <a:latin typeface="Open Sans"/>
              <a:ea typeface="Open Sans"/>
              <a:cs typeface="Open Sans"/>
              <a:sym typeface="Open Sans"/>
            </a:endParaRPr>
          </a:p>
          <a:p>
            <a:pPr indent="-317500" lvl="1" marL="914400" rtl="0" algn="l">
              <a:spcBef>
                <a:spcPts val="0"/>
              </a:spcBef>
              <a:spcAft>
                <a:spcPts val="0"/>
              </a:spcAft>
              <a:buClr>
                <a:schemeClr val="dk2"/>
              </a:buClr>
              <a:buSzPts val="1400"/>
              <a:buFont typeface="Open Sans"/>
              <a:buChar char="○"/>
            </a:pPr>
            <a:r>
              <a:rPr lang="en">
                <a:solidFill>
                  <a:schemeClr val="dk2"/>
                </a:solidFill>
                <a:latin typeface="Open Sans"/>
                <a:ea typeface="Open Sans"/>
                <a:cs typeface="Open Sans"/>
                <a:sym typeface="Open Sans"/>
              </a:rPr>
              <a:t>How much tourism helps the model explain past GDP growth variation</a:t>
            </a:r>
            <a:endParaRPr>
              <a:solidFill>
                <a:schemeClr val="dk2"/>
              </a:solidFill>
              <a:latin typeface="Open Sans"/>
              <a:ea typeface="Open Sans"/>
              <a:cs typeface="Open Sans"/>
              <a:sym typeface="Open Sans"/>
            </a:endParaRPr>
          </a:p>
          <a:p>
            <a:pPr indent="-317500" lvl="1" marL="914400" rtl="0" algn="l">
              <a:spcBef>
                <a:spcPts val="0"/>
              </a:spcBef>
              <a:spcAft>
                <a:spcPts val="0"/>
              </a:spcAft>
              <a:buClr>
                <a:schemeClr val="dk2"/>
              </a:buClr>
              <a:buSzPts val="1400"/>
              <a:buFont typeface="Open Sans"/>
              <a:buChar char="○"/>
            </a:pPr>
            <a:r>
              <a:rPr lang="en">
                <a:solidFill>
                  <a:schemeClr val="dk2"/>
                </a:solidFill>
                <a:latin typeface="Open Sans"/>
                <a:ea typeface="Open Sans"/>
                <a:cs typeface="Open Sans"/>
                <a:sym typeface="Open Sans"/>
              </a:rPr>
              <a:t>Which countries are more tourism-sensitive</a:t>
            </a:r>
            <a:endParaRPr>
              <a:solidFill>
                <a:schemeClr val="dk2"/>
              </a:solidFill>
              <a:latin typeface="Open Sans"/>
              <a:ea typeface="Open Sans"/>
              <a:cs typeface="Open Sans"/>
              <a:sym typeface="Open Sans"/>
            </a:endParaRPr>
          </a:p>
          <a:p>
            <a:pPr indent="-317500" lvl="1" marL="914400" rtl="0" algn="l">
              <a:spcBef>
                <a:spcPts val="0"/>
              </a:spcBef>
              <a:spcAft>
                <a:spcPts val="0"/>
              </a:spcAft>
              <a:buClr>
                <a:schemeClr val="dk2"/>
              </a:buClr>
              <a:buSzPts val="1400"/>
              <a:buFont typeface="Open Sans"/>
              <a:buChar char="○"/>
            </a:pPr>
            <a:r>
              <a:rPr lang="en">
                <a:solidFill>
                  <a:schemeClr val="dk2"/>
                </a:solidFill>
                <a:latin typeface="Open Sans"/>
                <a:ea typeface="Open Sans"/>
                <a:cs typeface="Open Sans"/>
                <a:sym typeface="Open Sans"/>
              </a:rPr>
              <a:t>This is all Independent of predictive accuracy.</a:t>
            </a:r>
            <a:endParaRPr>
              <a:solidFill>
                <a:schemeClr val="dk2"/>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Conclusions</a:t>
            </a:r>
            <a:endParaRPr/>
          </a:p>
        </p:txBody>
      </p:sp>
      <p:sp>
        <p:nvSpPr>
          <p:cNvPr id="141" name="Google Shape;141;p2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70000" lnSpcReduction="10000"/>
          </a:bodyPr>
          <a:lstStyle/>
          <a:p>
            <a:pPr indent="0" lvl="0" marL="0" rtl="0" algn="l">
              <a:lnSpc>
                <a:spcPct val="150000"/>
              </a:lnSpc>
              <a:spcBef>
                <a:spcPts val="1200"/>
              </a:spcBef>
              <a:spcAft>
                <a:spcPts val="0"/>
              </a:spcAft>
              <a:buNone/>
            </a:pPr>
            <a:r>
              <a:rPr lang="en" sz="1400"/>
              <a:t>Predicting European GDP Growth with tourism indicators:</a:t>
            </a:r>
            <a:endParaRPr sz="1400"/>
          </a:p>
          <a:p>
            <a:pPr indent="-290830" lvl="0" marL="457200" rtl="0" algn="l">
              <a:lnSpc>
                <a:spcPct val="150000"/>
              </a:lnSpc>
              <a:spcBef>
                <a:spcPts val="1200"/>
              </a:spcBef>
              <a:spcAft>
                <a:spcPts val="0"/>
              </a:spcAft>
              <a:buSzPct val="100000"/>
              <a:buChar char="●"/>
            </a:pPr>
            <a:r>
              <a:rPr lang="en" sz="1400"/>
              <a:t>When aggregating across European countries and using an 80–20 train-test split, the model explains roughly 40% of the variance in GDP growth. This suggests tourism indicators, along with standard economic controls, are moderately associated with GDP growth across Europe.</a:t>
            </a:r>
            <a:endParaRPr sz="1400"/>
          </a:p>
          <a:p>
            <a:pPr indent="-290830" lvl="0" marL="457200" rtl="0" algn="l">
              <a:lnSpc>
                <a:spcPct val="150000"/>
              </a:lnSpc>
              <a:spcBef>
                <a:spcPts val="0"/>
              </a:spcBef>
              <a:spcAft>
                <a:spcPts val="0"/>
              </a:spcAft>
              <a:buSzPct val="100000"/>
              <a:buChar char="●"/>
            </a:pPr>
            <a:r>
              <a:rPr lang="en" sz="1400"/>
              <a:t>While the model generalizes better than per-country forecasts due to the larger dataset, it should not be interpreted as a strong predictive model for year-ahead GDP, as temporal dynamics and country-specific effects are not explicitly accounted for.</a:t>
            </a:r>
            <a:endParaRPr sz="1400"/>
          </a:p>
          <a:p>
            <a:pPr indent="0" lvl="0" marL="0" rtl="0" algn="l">
              <a:lnSpc>
                <a:spcPct val="150000"/>
              </a:lnSpc>
              <a:spcBef>
                <a:spcPts val="1200"/>
              </a:spcBef>
              <a:spcAft>
                <a:spcPts val="0"/>
              </a:spcAft>
              <a:buNone/>
            </a:pPr>
            <a:r>
              <a:rPr lang="en" sz="1400"/>
              <a:t>Per Country Modeling:</a:t>
            </a:r>
            <a:endParaRPr sz="1400"/>
          </a:p>
          <a:p>
            <a:pPr indent="-290830" lvl="0" marL="457200" rtl="0" algn="l">
              <a:lnSpc>
                <a:spcPct val="150000"/>
              </a:lnSpc>
              <a:spcBef>
                <a:spcPts val="1200"/>
              </a:spcBef>
              <a:spcAft>
                <a:spcPts val="0"/>
              </a:spcAft>
              <a:buSzPct val="100000"/>
              <a:buChar char="●"/>
            </a:pPr>
            <a:r>
              <a:rPr lang="en" sz="1400"/>
              <a:t>Tourism impacts GDP contemporaneously. Feature importance shows which countries’ GDP is most sensitive to tourism activity, with tourism-heavy economies (e.g., Greece, Spain, Croatia) showing the strongest relationships.</a:t>
            </a:r>
            <a:endParaRPr sz="1400"/>
          </a:p>
          <a:p>
            <a:pPr indent="-290830" lvl="0" marL="457200" rtl="0" algn="l">
              <a:lnSpc>
                <a:spcPct val="150000"/>
              </a:lnSpc>
              <a:spcBef>
                <a:spcPts val="0"/>
              </a:spcBef>
              <a:spcAft>
                <a:spcPts val="0"/>
              </a:spcAft>
              <a:buSzPct val="100000"/>
              <a:buChar char="●"/>
            </a:pPr>
            <a:r>
              <a:rPr lang="en" sz="1400"/>
              <a:t>Limited predictive power. Time-series cross-validation reveals that tourism growth alone cannot reliably forecast future GDP growth. Negative or low R² values highlight high volatility and the influence of other macroeconomic factors.</a:t>
            </a:r>
            <a:endParaRPr sz="1400"/>
          </a:p>
          <a:p>
            <a:pPr indent="0" lvl="0" marL="0" rtl="0" algn="l">
              <a:lnSpc>
                <a:spcPct val="150000"/>
              </a:lnSpc>
              <a:spcBef>
                <a:spcPts val="1200"/>
              </a:spcBef>
              <a:spcAft>
                <a:spcPts val="1200"/>
              </a:spcAft>
              <a:buNone/>
            </a:pPr>
            <a:r>
              <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